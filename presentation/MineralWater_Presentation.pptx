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สวัสดีค่ะ วันนี้จะนำเสนอระบบแนะนำน้ำแร่ที่พัฒนาด้วย Graph Database โดยใช้ Neo4j Aura เก็บข้อมูล เขียนคำสั่งด้วย Cypher และทำหน้าเว็บด้วย Streamlit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หน้าแรกของเว็บเป็น Hub รวมงานทั้ง 4 ชิ้น งานที่ 1 ถึง 3 เป็นการบ้านที่เปิดดูเนื้อหาได้บนเว็บ ส่วนงานที่ 4 คือระบบแนะนำน้ำแร่ที่ใช้งานได้จริง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งานที่ 1 ฝึกเขียน Cypher กับระบบชมรม งานที่ 2 ทดลองแนวคิดการแนะนำน้ำแร่ด้วยกราฟในหน่วยความจำ งานที่ 3 ย้ายข้อมูลน้ำแร่ไปเก็บใน Neo4j Aura ซึ่งเป็นต้นแบบของระบบในงานที่ 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แนวคิดคือเริ่มจากลูกค้าเป้าหมาย เดินไปหาลูกค้าที่คล้ายกัน ดูว่าเขาชอบน้ำแร่อะไร ตัดยี่ห้อที่เจ้าตัวชอบอยู่แล้วออก แล้วจัดอันดับ ตัวอย่างคือ Kanya ซึ่งระบบแนะนำ Namthip, Nestle Pure Life และ evian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โมเดลกราฟมี Node สองชนิดคือ Customer และ Water ความสัมพันธ์ SIMILAR_TO เชื่อมลูกค้าที่รสนิยมคล้ายกัน และ LIKES เชื่อมลูกค้ากับน้ำแร่ที่ชอบ SIMILAR_TO เก็บเพียงเส้นเดียวต่อคู่และค้นหาแบบไม่สนทิศทาง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ข้อมูลตัวอย่างมีลูกค้า 10 คน น้ำแร่ 7 ยี่ห้อ ความสัมพันธ์ LIKES 24 เส้น และ SIMILAR_TO 12 เส้น Singha เป็นยี่ห้อที่มีคนชอบมากที่สุดคือ 5 คน รองลงมาคือ Crystal 4 คน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คำสั่ง Cypher นี้คือหัวใจของระบบ เริ่มจากลูกค้า เดินผ่าน SIMILAR_TO ไปหาลูกค้าที่คล้ายกัน แล้วเดินผ่าน LIKES ไปยังน้ำแร่ จากนั้นตัดน้ำแร่ที่เจ้าตัวชอบอยู่แล้ว และนับจำนวนลูกค้าที่คล้ายกันเป็นคะแนน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ระบบแบ่งเป็นชั้น ผู้ใช้เปิดเว็บ Streamlit ซึ่งอยู่ในไฟล์ app.py หน้าเว็บเรียกฟังก์ชันใน neo4j_service.py ซึ่งส่ง Cypher ไปยัง Neo4j Aura โค้ดเก็บบน GitHub และ deploy ผ่าน Streamlit Community Cloud โดยรหัสผ่านฐานข้อมูลเก็บใน Secrets ไม่อยู่ในโค้ด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หน้าภาพรวมแสดงจำนวน Node และความสัมพันธ์ พร้อมความนิยมของน้ำแร่แต่ละยี่ห้อ หน้าแนะนำน้ำแร่ให้เลือกลูกค้า แล้วแสดงน้ำแร่ที่แนะนำพร้อมคะแนนและชื่อลูกค้าที่คล้ายกันซึ่งเป็นเหตุผล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ระบบจัดการข้อมูลได้ครบทั้งลูกค้า น้ำแร่ และความสัมพันธ์ การเพิ่มใช้ CREATE พร้อมตรวจรหัสซ้ำ การแก้ไขใช้ SET การลบใช้ DETACH DELETE ซึ่งลบความสัมพันธ์ไปด้วย ส่วนความสัมพันธ์ใช้ MERGE และ DELETE น้ำแร่แต่ละยี่ห้ออัปโหลดรูปได้ โดยรูปเก็บไว้ใน Node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หน้ากราฟความสัมพันธ์แสดงเพื่อนบ้านของลูกค้าที่เลือก ทั้งลูกค้าที่คล้ายกันและน้ำแร่ที่เกี่ยวข้อง ทำให้ไล่ดูได้ว่าคำแนะนำมาจากเส้นทางใดในกราฟ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สรุปคือ Graph Database เหมาะกับโจทย์ระบบแนะนำ เพราะเขียนคำถามเป็นเส้นทางได้ตรงตัว คำแนะนำอธิบายที่มาได้ และระบบใช้งานได้จริงบนเว็บ ขอบคุณค่ะ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tabjit2005/MineralWater1" TargetMode="External"/><Relationship Id="rId1" Type="http://schemas.openxmlformats.org/officeDocument/2006/relationships/image" Target="../media/Slide-12-image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914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BFEAF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GRAPH DATABASE PROJECT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25880"/>
            <a:ext cx="76809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ระบบแนะนำน้ำแร่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ด้วย Graph Database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0175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8F7F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แนะนำน้ำแร่จากลูกค้าที่มีรสนิยมคล้ายกัน ด้วย Neo4j Aura, Cypher และ Streamlit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3794760"/>
            <a:ext cx="3931920" cy="777240"/>
          </a:xfrm>
          <a:prstGeom prst="roundRect">
            <a:avLst>
              <a:gd name="adj" fmla="val 11765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BFEAF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3858768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EAF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ผู้จัดทำ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กมลวรรณ ทับจิต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E8F7F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รหัสนักศึกษา 664245002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E749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ภาพรวม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95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งาน 4 ชิ้นในเว็บเดียว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B7F9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ระบบแนะนำน้ำแร่ · กมลวรรณ ทับจิต 664245002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4B7F9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 / 12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316736"/>
            <a:ext cx="457200" cy="45720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7200" y="13167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051560" y="12801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395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ระบบชมรมด้วย Neo4j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051560" y="157276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7F9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เอกสารคำสั่ง Cypher แนะนำชมรมจากเพื่อน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57200" y="2157984"/>
            <a:ext cx="457200" cy="45720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57200" y="21579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1051560" y="212140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395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น้ำแร่ด้วย Graph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1051560" y="2414016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7F9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Notebook สร้างกราฟด้วย Python / NetworkX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457200" y="2999232"/>
            <a:ext cx="457200" cy="45720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57200" y="2999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1051560" y="296265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395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น้ำแร่ด้วย Neo4j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1051560" y="3255264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7F9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Notebook เชื่อม Neo4j Aura และเขียน Cypher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457200" y="3840480"/>
            <a:ext cx="457200" cy="457200"/>
          </a:xfrm>
          <a:prstGeom prst="ellipse">
            <a:avLst/>
          </a:prstGeom>
          <a:solidFill>
            <a:srgbClr val="22B8CF"/>
          </a:solidFill>
          <a:ln w="12700">
            <a:solidFill>
              <a:srgbClr val="22B8C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5720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04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1051560" y="38039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395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ระบบแนะนำน้ำแร่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409651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7F9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เว็บแอปที่เพิ่ม ลบ แก้ไขข้อมูลและแนะนำน้ำแร่ได้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4306824" y="1289304"/>
            <a:ext cx="4416552" cy="2787777"/>
          </a:xfrm>
          <a:prstGeom prst="rect">
            <a:avLst/>
          </a:prstGeom>
          <a:solidFill>
            <a:srgbClr val="FFFFFF"/>
          </a:solidFill>
          <a:ln w="9525">
            <a:solidFill>
              <a:srgbClr val="C5E3EE"/>
            </a:solidFill>
            <a:prstDash val="solid"/>
          </a:ln>
          <a:effectLst>
            <a:outerShdw sx="100000" sy="100000" kx="0" ky="0" algn="bl" rotWithShape="0" blurRad="101600" dist="25400" dir="5400000">
              <a:srgbClr val="0E7490">
                <a:alpha val="14000"/>
              </a:srgbClr>
            </a:outerShdw>
          </a:effectLst>
        </p:spPr>
      </p:sp>
      <p:pic>
        <p:nvPicPr>
          <p:cNvPr id="24" name="Image 0" descr="s_hub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43400" y="1325880"/>
            <a:ext cx="4343400" cy="2714625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4343400" y="4133088"/>
            <a:ext cx="434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4B7F9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หน้าหลักของเว็บ: การ์ดงานทั้ง 4 ชิ้น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E749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การบ้าน 1–3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95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จากการบ้านสู่ระบบจริง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B7F9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ระบบแนะนำน้ำแร่ · กมลวรรณ ทับจิต 664245002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4B7F9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 / 12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234440"/>
            <a:ext cx="2560320" cy="260604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C5E3EE"/>
            </a:solidFill>
            <a:prstDash val="solid"/>
          </a:ln>
          <a:effectLst>
            <a:outerShdw sx="100000" sy="100000" kx="0" ky="0" algn="bl" rotWithShape="0" blurRad="101600" dist="25400" dir="5400000">
              <a:srgbClr val="0E7490">
                <a:alpha val="14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40080" y="1417320"/>
            <a:ext cx="457200" cy="45720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008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1234440" y="14630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7F9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เอกสาร PDF 7 หน้า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20116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395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ระบบชมรมด้วย Neo4j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242316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F2A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Student 5 คน, Club 3 ชมรม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F2A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FRIEND และ MEMBER_OF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F2A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แนะนำชมรมอันดับ 1 ด้วย count(DISTINCT) และ WHERE NOT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3291840" y="1234440"/>
            <a:ext cx="2560320" cy="260604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C5E3EE"/>
            </a:solidFill>
            <a:prstDash val="solid"/>
          </a:ln>
          <a:effectLst>
            <a:outerShdw sx="100000" sy="100000" kx="0" ky="0" algn="bl" rotWithShape="0" blurRad="101600" dist="25400" dir="5400000">
              <a:srgbClr val="0E7490">
                <a:alpha val="14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474720" y="1417320"/>
            <a:ext cx="457200" cy="45720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47472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02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4069080" y="14630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7F9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Notebook · NetworkX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3474720" y="20116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395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น้ำแร่ด้วย Graph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3474720" y="242316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F2A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ผู้ใช้ 10 คน น้ำแร่ 7 ยี่ห้อ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F2A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เดินกราฟด้วย G.neighbors()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F2A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คะแนน = จำนวนเส้นทางที่ไปถึงยี่ห้อนั้น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6126480" y="1234440"/>
            <a:ext cx="2560320" cy="260604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C5E3EE"/>
            </a:solidFill>
            <a:prstDash val="solid"/>
          </a:ln>
          <a:effectLst>
            <a:outerShdw sx="100000" sy="100000" kx="0" ky="0" algn="bl" rotWithShape="0" blurRad="101600" dist="25400" dir="5400000">
              <a:srgbClr val="0E7490">
                <a:alpha val="14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309360" y="1417320"/>
            <a:ext cx="457200" cy="45720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30936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03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6903720" y="14630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7F9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Notebook · Neo4j Aura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6309360" y="20116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395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น้ำแร่ด้วย Neo4j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6309360" y="242316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F2A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Constraint และ UNWIND + MERGE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F2A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SIMILAR_TO และ LIKES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F2A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ฟังก์ชัน recommend_waters()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457200" y="4069080"/>
            <a:ext cx="8229600" cy="457200"/>
          </a:xfrm>
          <a:prstGeom prst="roundRect">
            <a:avLst>
              <a:gd name="adj" fmla="val 20000"/>
            </a:avLst>
          </a:prstGeom>
          <a:solidFill>
            <a:srgbClr val="E1F1F7"/>
          </a:solidFill>
          <a:ln w="9525">
            <a:solidFill>
              <a:srgbClr val="C5E3EE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40080" y="40690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95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ทั้งสามงานปูทางสู่งานที่ 4: นำแนวคิดและ Cypher ชุดเดียวกันมาทำเป็นเว็บแอป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E749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แนวคิด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95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แนะนำจากลูกค้าที่มีรสนิยมคล้ายกัน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B7F9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ระบบแนะนำน้ำแร่ · กมลวรรณ ทับจิต 664245002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4B7F9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 / 12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280160"/>
            <a:ext cx="182880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C5E3EE"/>
            </a:solidFill>
            <a:prstDash val="solid"/>
          </a:ln>
          <a:effectLst>
            <a:outerShdw sx="100000" sy="100000" kx="0" ky="0" algn="bl" rotWithShape="0" blurRad="101600" dist="25400" dir="5400000">
              <a:srgbClr val="0E7490">
                <a:alpha val="14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94360" y="1399032"/>
            <a:ext cx="365760" cy="36576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94360" y="13990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594360" y="182880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395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ลูกค้าเป้าหมาย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21031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7F9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เริ่มจากลูกค้าที่ต้องการคำแนะนำ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331720" y="1920240"/>
            <a:ext cx="210312" cy="0"/>
          </a:xfrm>
          <a:prstGeom prst="line">
            <a:avLst/>
          </a:prstGeom>
          <a:noFill/>
          <a:ln w="22225">
            <a:solidFill>
              <a:srgbClr val="0E7490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2587752" y="1280160"/>
            <a:ext cx="182880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C5E3EE"/>
            </a:solidFill>
            <a:prstDash val="solid"/>
          </a:ln>
          <a:effectLst>
            <a:outerShdw sx="100000" sy="100000" kx="0" ky="0" algn="bl" rotWithShape="0" blurRad="101600" dist="25400" dir="5400000">
              <a:srgbClr val="0E7490">
                <a:alpha val="14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724912" y="1399032"/>
            <a:ext cx="365760" cy="36576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2724912" y="13990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2724912" y="182880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395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ลูกค้าที่คล้ายกัน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2724912" y="21031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7F9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เดินผ่านความสัมพันธ์ SIMILAR_TO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462272" y="1920240"/>
            <a:ext cx="210312" cy="0"/>
          </a:xfrm>
          <a:prstGeom prst="line">
            <a:avLst/>
          </a:prstGeom>
          <a:noFill/>
          <a:ln w="22225">
            <a:solidFill>
              <a:srgbClr val="0E7490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4718304" y="1280160"/>
            <a:ext cx="182880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C5E3EE"/>
            </a:solidFill>
            <a:prstDash val="solid"/>
          </a:ln>
          <a:effectLst>
            <a:outerShdw sx="100000" sy="100000" kx="0" ky="0" algn="bl" rotWithShape="0" blurRad="101600" dist="25400" dir="5400000">
              <a:srgbClr val="0E7490">
                <a:alpha val="14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855464" y="1399032"/>
            <a:ext cx="365760" cy="36576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855464" y="13990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4855464" y="182880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395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น้ำแร่ที่เขาชอบ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4855464" y="21031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7F9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เดินต่อผ่านความสัมพันธ์ LIKES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6592824" y="1920240"/>
            <a:ext cx="210312" cy="0"/>
          </a:xfrm>
          <a:prstGeom prst="line">
            <a:avLst/>
          </a:prstGeom>
          <a:noFill/>
          <a:ln w="22225">
            <a:solidFill>
              <a:srgbClr val="0E7490"/>
            </a:solidFill>
            <a:prstDash val="solid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6848856" y="1280160"/>
            <a:ext cx="182880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C5E3EE"/>
            </a:solidFill>
            <a:prstDash val="solid"/>
          </a:ln>
          <a:effectLst>
            <a:outerShdw sx="100000" sy="100000" kx="0" ky="0" algn="bl" rotWithShape="0" blurRad="101600" dist="25400" dir="5400000">
              <a:srgbClr val="0E7490">
                <a:alpha val="14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986016" y="1399032"/>
            <a:ext cx="365760" cy="365760"/>
          </a:xfrm>
          <a:prstGeom prst="ellipse">
            <a:avLst/>
          </a:prstGeom>
          <a:solidFill>
            <a:srgbClr val="22B8CF"/>
          </a:solidFill>
          <a:ln w="12700">
            <a:solidFill>
              <a:srgbClr val="22B8C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986016" y="13990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6986016" y="182880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395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ตัดและจัดอันดับ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6986016" y="21031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7F9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ตัดยี่ห้อที่ชอบอยู่แล้ว เรียงตามคะแนน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457200" y="2834640"/>
            <a:ext cx="82296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C5E3EE"/>
            </a:solidFill>
            <a:prstDash val="solid"/>
          </a:ln>
          <a:effectLst>
            <a:outerShdw sx="100000" sy="100000" kx="0" ky="0" algn="bl" rotWithShape="0" blurRad="101600" dist="25400" dir="5400000">
              <a:srgbClr val="0E7490">
                <a:alpha val="14000"/>
              </a:srgbClr>
            </a:outerShdw>
          </a:effectLst>
        </p:spPr>
      </p:sp>
      <p:sp>
        <p:nvSpPr>
          <p:cNvPr id="31" name="Text 28"/>
          <p:cNvSpPr txBox="1"/>
          <p:nvPr/>
        </p:nvSpPr>
        <p:spPr>
          <a:xfrm>
            <a:off x="685800" y="2971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395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ตัวอย่าง: Kanya (C001)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685800" y="336499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B7F9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ชอบอยู่แล้ว</a:t>
            </a:r>
            <a:endParaRPr lang="en-US" sz="1150" dirty="0"/>
          </a:p>
        </p:txBody>
      </p:sp>
      <p:sp>
        <p:nvSpPr>
          <p:cNvPr id="33" name="Text 30"/>
          <p:cNvSpPr txBox="1"/>
          <p:nvPr/>
        </p:nvSpPr>
        <p:spPr>
          <a:xfrm>
            <a:off x="2468880" y="3364992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2A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Singha, Crystal</a:t>
            </a:r>
            <a:endParaRPr lang="en-US" sz="1250" dirty="0"/>
          </a:p>
        </p:txBody>
      </p:sp>
      <p:sp>
        <p:nvSpPr>
          <p:cNvPr id="34" name="Text 31"/>
          <p:cNvSpPr txBox="1"/>
          <p:nvPr/>
        </p:nvSpPr>
        <p:spPr>
          <a:xfrm>
            <a:off x="685800" y="373075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B7F9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ลูกค้าที่คล้ายกัน</a:t>
            </a:r>
            <a:endParaRPr lang="en-US" sz="1150" dirty="0"/>
          </a:p>
        </p:txBody>
      </p:sp>
      <p:sp>
        <p:nvSpPr>
          <p:cNvPr id="35" name="Text 32"/>
          <p:cNvSpPr txBox="1"/>
          <p:nvPr/>
        </p:nvSpPr>
        <p:spPr>
          <a:xfrm>
            <a:off x="2468880" y="3730752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2A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Nattapong, Preecha, Nichada</a:t>
            </a:r>
            <a:endParaRPr lang="en-US" sz="1250" dirty="0"/>
          </a:p>
        </p:txBody>
      </p:sp>
      <p:sp>
        <p:nvSpPr>
          <p:cNvPr id="36" name="Text 33"/>
          <p:cNvSpPr txBox="1"/>
          <p:nvPr/>
        </p:nvSpPr>
        <p:spPr>
          <a:xfrm>
            <a:off x="685800" y="409651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B7F9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ระบบแนะนำ</a:t>
            </a:r>
            <a:endParaRPr lang="en-US" sz="1150" dirty="0"/>
          </a:p>
        </p:txBody>
      </p:sp>
      <p:sp>
        <p:nvSpPr>
          <p:cNvPr id="37" name="Text 34"/>
          <p:cNvSpPr txBox="1"/>
          <p:nvPr/>
        </p:nvSpPr>
        <p:spPr>
          <a:xfrm>
            <a:off x="2468880" y="4096512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749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Namthip, Nestle Pure Life, evian  (คะแนนยี่ห้อละ 1)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E749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Graph Data Model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95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Node 2 ชนิด ความสัมพันธ์ 2 แบบ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B7F9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ระบบแนะนำน้ำแร่ · กมลวรรณ ทับจิต 664245002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4B7F9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 / 12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234440"/>
            <a:ext cx="4846320" cy="333756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9525">
            <a:solidFill>
              <a:srgbClr val="C5E3EE"/>
            </a:solidFill>
            <a:prstDash val="solid"/>
          </a:ln>
          <a:effectLst>
            <a:outerShdw sx="100000" sy="100000" kx="0" ky="0" algn="bl" rotWithShape="0" blurRad="101600" dist="25400" dir="5400000">
              <a:srgbClr val="0E7490">
                <a:alpha val="14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22960" y="1645920"/>
            <a:ext cx="1463040" cy="640080"/>
          </a:xfrm>
          <a:prstGeom prst="roundRect">
            <a:avLst>
              <a:gd name="adj" fmla="val 28571"/>
            </a:avLst>
          </a:prstGeom>
          <a:solidFill>
            <a:srgbClr val="E0F2FE"/>
          </a:solidFill>
          <a:ln w="15875">
            <a:solidFill>
              <a:srgbClr val="0E749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" y="16459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95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:Customer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22960" y="3520440"/>
            <a:ext cx="1463040" cy="640080"/>
          </a:xfrm>
          <a:prstGeom prst="roundRect">
            <a:avLst>
              <a:gd name="adj" fmla="val 28571"/>
            </a:avLst>
          </a:prstGeom>
          <a:solidFill>
            <a:srgbClr val="E0F2FE"/>
          </a:solidFill>
          <a:ln w="15875">
            <a:solidFill>
              <a:srgbClr val="0E749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22960" y="352044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95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:Customer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474720" y="2578608"/>
            <a:ext cx="1463040" cy="640080"/>
          </a:xfrm>
          <a:prstGeom prst="roundRect">
            <a:avLst>
              <a:gd name="adj" fmla="val 28571"/>
            </a:avLst>
          </a:prstGeom>
          <a:solidFill>
            <a:srgbClr val="CDF5EE"/>
          </a:solidFill>
          <a:ln w="15875">
            <a:solidFill>
              <a:srgbClr val="0E749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474720" y="2578608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95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:Water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1554480" y="2286000"/>
            <a:ext cx="0" cy="1234440"/>
          </a:xfrm>
          <a:prstGeom prst="line">
            <a:avLst/>
          </a:prstGeom>
          <a:noFill/>
          <a:ln w="22225">
            <a:solidFill>
              <a:srgbClr val="0E749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645920" y="276148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749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SIMILAR_TO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2286000" y="2011680"/>
            <a:ext cx="1188720" cy="731520"/>
          </a:xfrm>
          <a:prstGeom prst="line">
            <a:avLst/>
          </a:prstGeom>
          <a:noFill/>
          <a:ln w="22225">
            <a:solidFill>
              <a:srgbClr val="0E7490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 flipV="1">
            <a:off x="2286000" y="3063240"/>
            <a:ext cx="1188720" cy="731520"/>
          </a:xfrm>
          <a:prstGeom prst="line">
            <a:avLst/>
          </a:prstGeom>
          <a:noFill/>
          <a:ln w="22225">
            <a:solidFill>
              <a:srgbClr val="0E7490"/>
            </a:solidFill>
            <a:prstDash val="solid"/>
            <a:tailEnd type="triangle"/>
          </a:ln>
        </p:spPr>
      </p:sp>
      <p:sp>
        <p:nvSpPr>
          <p:cNvPr id="18" name="Text 15"/>
          <p:cNvSpPr txBox="1"/>
          <p:nvPr/>
        </p:nvSpPr>
        <p:spPr>
          <a:xfrm>
            <a:off x="2788920" y="196596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E749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LIKES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2788920" y="358444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E749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LIKES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5577840" y="1234440"/>
            <a:ext cx="31089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C5E3EE"/>
            </a:solidFill>
            <a:prstDash val="solid"/>
          </a:ln>
          <a:effectLst>
            <a:outerShdw sx="100000" sy="100000" kx="0" ky="0" algn="bl" rotWithShape="0" blurRad="101600" dist="25400" dir="5400000">
              <a:srgbClr val="0E7490">
                <a:alpha val="14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5760720" y="13258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395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Customer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5760720" y="16184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7F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customer_id (ไม่ซ้ำ), name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577840" y="2148840"/>
            <a:ext cx="31089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C5E3EE"/>
            </a:solidFill>
            <a:prstDash val="solid"/>
          </a:ln>
          <a:effectLst>
            <a:outerShdw sx="100000" sy="100000" kx="0" ky="0" algn="bl" rotWithShape="0" blurRad="101600" dist="25400" dir="5400000">
              <a:srgbClr val="0E7490">
                <a:alpha val="14000"/>
              </a:srgbClr>
            </a:outerShdw>
          </a:effectLst>
        </p:spPr>
      </p:sp>
      <p:sp>
        <p:nvSpPr>
          <p:cNvPr id="24" name="Text 21"/>
          <p:cNvSpPr txBox="1"/>
          <p:nvPr/>
        </p:nvSpPr>
        <p:spPr>
          <a:xfrm>
            <a:off x="5760720" y="22402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395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Water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5760720" y="25328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7F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water_id (ไม่ซ้ำ), name, image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5577840" y="3108960"/>
            <a:ext cx="3108960" cy="1097280"/>
          </a:xfrm>
          <a:prstGeom prst="roundRect">
            <a:avLst>
              <a:gd name="adj" fmla="val 8333"/>
            </a:avLst>
          </a:prstGeom>
          <a:solidFill>
            <a:srgbClr val="E1F1F7"/>
          </a:solidFill>
          <a:ln w="9525">
            <a:solidFill>
              <a:srgbClr val="C5E3EE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5760720" y="3218688"/>
            <a:ext cx="27432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0B395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SIMILAR_TO เป็นความสัมพันธ์สองทาง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0F2A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ถ้า A คล้าย B แล้ว B ก็คล้าย A จึงเก็บเพียง 1 เส้นต่อคู่ และค้นหาแบบไม่สนทิศทาง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E749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ข้อมูลตัวอย่าง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95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ข้อมูลชุดเดียวกับ notebook การบ้าน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B7F9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ระบบแนะนำน้ำแร่ · กมลวรรณ ทับจิต 664245002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4B7F9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 / 12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234440"/>
            <a:ext cx="160020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C5E3EE"/>
            </a:solidFill>
            <a:prstDash val="solid"/>
          </a:ln>
          <a:effectLst>
            <a:outerShdw sx="100000" sy="100000" kx="0" ky="0" algn="bl" rotWithShape="0" blurRad="101600" dist="25400" dir="5400000">
              <a:srgbClr val="0E7490">
                <a:alpha val="14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457200" y="141732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E749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10</a:t>
            </a:r>
            <a:endParaRPr lang="en-US" sz="44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22402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B7F9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ลูกค้า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240280" y="1234440"/>
            <a:ext cx="160020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C5E3EE"/>
            </a:solidFill>
            <a:prstDash val="solid"/>
          </a:ln>
          <a:effectLst>
            <a:outerShdw sx="100000" sy="100000" kx="0" ky="0" algn="bl" rotWithShape="0" blurRad="101600" dist="25400" dir="5400000">
              <a:srgbClr val="0E7490">
                <a:alpha val="14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2240280" y="141732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E749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7</a:t>
            </a:r>
            <a:endParaRPr lang="en-US" sz="4400" dirty="0"/>
          </a:p>
        </p:txBody>
      </p:sp>
      <p:sp>
        <p:nvSpPr>
          <p:cNvPr id="12" name="Text 9"/>
          <p:cNvSpPr txBox="1"/>
          <p:nvPr/>
        </p:nvSpPr>
        <p:spPr>
          <a:xfrm>
            <a:off x="2240280" y="22402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B7F9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น้ำแร่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57200" y="2926080"/>
            <a:ext cx="160020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C5E3EE"/>
            </a:solidFill>
            <a:prstDash val="solid"/>
          </a:ln>
          <a:effectLst>
            <a:outerShdw sx="100000" sy="100000" kx="0" ky="0" algn="bl" rotWithShape="0" blurRad="101600" dist="25400" dir="5400000">
              <a:srgbClr val="0E7490">
                <a:alpha val="14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457200" y="310896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E749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24</a:t>
            </a:r>
            <a:endParaRPr lang="en-US" sz="440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39319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B7F9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LIKES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2240280" y="2926080"/>
            <a:ext cx="160020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C5E3EE"/>
            </a:solidFill>
            <a:prstDash val="solid"/>
          </a:ln>
          <a:effectLst>
            <a:outerShdw sx="100000" sy="100000" kx="0" ky="0" algn="bl" rotWithShape="0" blurRad="101600" dist="25400" dir="5400000">
              <a:srgbClr val="0E7490">
                <a:alpha val="14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2240280" y="310896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E749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12</a:t>
            </a:r>
            <a:endParaRPr lang="en-US" sz="4400" dirty="0"/>
          </a:p>
        </p:txBody>
      </p:sp>
      <p:sp>
        <p:nvSpPr>
          <p:cNvPr id="18" name="Text 15"/>
          <p:cNvSpPr txBox="1"/>
          <p:nvPr/>
        </p:nvSpPr>
        <p:spPr>
          <a:xfrm>
            <a:off x="2240280" y="39319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B7F9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SIMILAR_TO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206240" y="1234440"/>
            <a:ext cx="448056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C5E3EE"/>
            </a:solidFill>
            <a:prstDash val="solid"/>
          </a:ln>
          <a:effectLst>
            <a:outerShdw sx="100000" sy="100000" kx="0" ky="0" algn="bl" rotWithShape="0" blurRad="101600" dist="25400" dir="5400000">
              <a:srgbClr val="0E7490">
                <a:alpha val="14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4434840" y="13716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395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จำนวนลูกค้าที่ชอบน้ำแร่แต่ละยี่ห้อ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4434840" y="1810512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0F2A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Singha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5870448" y="1828800"/>
            <a:ext cx="2240280" cy="20116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183880" y="1810512"/>
            <a:ext cx="320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395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</a:t>
            </a:r>
            <a:endParaRPr lang="en-US" sz="1050" dirty="0"/>
          </a:p>
        </p:txBody>
      </p:sp>
      <p:sp>
        <p:nvSpPr>
          <p:cNvPr id="24" name="Text 21"/>
          <p:cNvSpPr txBox="1"/>
          <p:nvPr/>
        </p:nvSpPr>
        <p:spPr>
          <a:xfrm>
            <a:off x="4434840" y="2167128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0F2A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Crystal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870448" y="2185416"/>
            <a:ext cx="1792224" cy="201168"/>
          </a:xfrm>
          <a:prstGeom prst="rect">
            <a:avLst/>
          </a:prstGeom>
          <a:solidFill>
            <a:srgbClr val="22B8CF"/>
          </a:solidFill>
          <a:ln w="12700">
            <a:solidFill>
              <a:srgbClr val="22B8C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735824" y="2167128"/>
            <a:ext cx="320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395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050" dirty="0"/>
          </a:p>
        </p:txBody>
      </p:sp>
      <p:sp>
        <p:nvSpPr>
          <p:cNvPr id="27" name="Text 24"/>
          <p:cNvSpPr txBox="1"/>
          <p:nvPr/>
        </p:nvSpPr>
        <p:spPr>
          <a:xfrm>
            <a:off x="4434840" y="2523744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0F2A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Minere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5870448" y="2542032"/>
            <a:ext cx="1344168" cy="201168"/>
          </a:xfrm>
          <a:prstGeom prst="rect">
            <a:avLst/>
          </a:prstGeom>
          <a:solidFill>
            <a:srgbClr val="22B8CF"/>
          </a:solidFill>
          <a:ln w="12700">
            <a:solidFill>
              <a:srgbClr val="22B8CF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287768" y="2523744"/>
            <a:ext cx="320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395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050" dirty="0"/>
          </a:p>
        </p:txBody>
      </p:sp>
      <p:sp>
        <p:nvSpPr>
          <p:cNvPr id="30" name="Text 27"/>
          <p:cNvSpPr txBox="1"/>
          <p:nvPr/>
        </p:nvSpPr>
        <p:spPr>
          <a:xfrm>
            <a:off x="4434840" y="2880360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0F2A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Nestle Pure Life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5870448" y="2898648"/>
            <a:ext cx="1344168" cy="201168"/>
          </a:xfrm>
          <a:prstGeom prst="rect">
            <a:avLst/>
          </a:prstGeom>
          <a:solidFill>
            <a:srgbClr val="22B8CF"/>
          </a:solidFill>
          <a:ln w="12700">
            <a:solidFill>
              <a:srgbClr val="22B8CF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7287768" y="2880360"/>
            <a:ext cx="320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395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050" dirty="0"/>
          </a:p>
        </p:txBody>
      </p:sp>
      <p:sp>
        <p:nvSpPr>
          <p:cNvPr id="33" name="Text 30"/>
          <p:cNvSpPr txBox="1"/>
          <p:nvPr/>
        </p:nvSpPr>
        <p:spPr>
          <a:xfrm>
            <a:off x="4434840" y="3236976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0F2A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Perrier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5870448" y="3255264"/>
            <a:ext cx="1344168" cy="201168"/>
          </a:xfrm>
          <a:prstGeom prst="rect">
            <a:avLst/>
          </a:prstGeom>
          <a:solidFill>
            <a:srgbClr val="22B8CF"/>
          </a:solidFill>
          <a:ln w="12700">
            <a:solidFill>
              <a:srgbClr val="22B8C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7287768" y="3236976"/>
            <a:ext cx="320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395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050" dirty="0"/>
          </a:p>
        </p:txBody>
      </p:sp>
      <p:sp>
        <p:nvSpPr>
          <p:cNvPr id="36" name="Text 33"/>
          <p:cNvSpPr txBox="1"/>
          <p:nvPr/>
        </p:nvSpPr>
        <p:spPr>
          <a:xfrm>
            <a:off x="4434840" y="3593592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0F2A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Namthip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5870448" y="3611880"/>
            <a:ext cx="1344168" cy="201168"/>
          </a:xfrm>
          <a:prstGeom prst="rect">
            <a:avLst/>
          </a:prstGeom>
          <a:solidFill>
            <a:srgbClr val="22B8CF"/>
          </a:solidFill>
          <a:ln w="12700">
            <a:solidFill>
              <a:srgbClr val="22B8CF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7287768" y="3593592"/>
            <a:ext cx="320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395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050" dirty="0"/>
          </a:p>
        </p:txBody>
      </p:sp>
      <p:sp>
        <p:nvSpPr>
          <p:cNvPr id="39" name="Text 36"/>
          <p:cNvSpPr txBox="1"/>
          <p:nvPr/>
        </p:nvSpPr>
        <p:spPr>
          <a:xfrm>
            <a:off x="4434840" y="3950208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0F2A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evian</a:t>
            </a:r>
            <a:endParaRPr lang="en-US" sz="1050" dirty="0"/>
          </a:p>
        </p:txBody>
      </p:sp>
      <p:sp>
        <p:nvSpPr>
          <p:cNvPr id="40" name="Shape 37"/>
          <p:cNvSpPr/>
          <p:nvPr/>
        </p:nvSpPr>
        <p:spPr>
          <a:xfrm>
            <a:off x="5870448" y="3968496"/>
            <a:ext cx="1344168" cy="201168"/>
          </a:xfrm>
          <a:prstGeom prst="rect">
            <a:avLst/>
          </a:prstGeom>
          <a:solidFill>
            <a:srgbClr val="22B8CF"/>
          </a:solidFill>
          <a:ln w="12700">
            <a:solidFill>
              <a:srgbClr val="22B8C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7287768" y="3950208"/>
            <a:ext cx="320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395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E749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Cypher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95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คำสั่งแนะนำน้ำแร่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B7F9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ระบบแนะนำน้ำแร่ · กมลวรรณ ทับจิต 664245002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4B7F9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7 / 12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234440"/>
            <a:ext cx="5029200" cy="3017520"/>
          </a:xfrm>
          <a:prstGeom prst="roundRect">
            <a:avLst>
              <a:gd name="adj" fmla="val 2424"/>
            </a:avLst>
          </a:prstGeom>
          <a:solidFill>
            <a:srgbClr val="0B3954"/>
          </a:solidFill>
          <a:ln w="12700">
            <a:solidFill>
              <a:srgbClr val="0B3954"/>
            </a:solidFill>
            <a:prstDash val="solid"/>
          </a:ln>
          <a:effectLst>
            <a:outerShdw sx="100000" sy="100000" kx="0" ky="0" algn="bl" rotWithShape="0" blurRad="101600" dist="25400" dir="5400000">
              <a:srgbClr val="0E7490">
                <a:alpha val="14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658368" y="1463040"/>
            <a:ext cx="46634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8F7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 (me:Customer {customer_id:$customer_id})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8F7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-[:SIMILAR_TO]-(similar:Customer)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8F7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-[:LIKES]-&gt;(water:Water)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8F7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NOT EXISTS {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8F7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MATCH (me)-[:LIKES]-&gt;(water)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8F7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8F7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DISTINCT water, similar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8F7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water.name AS recommendation,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8F7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count(similar) AS score,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8F7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collect(similar.name) AS similar_names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8F7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score DESC, recommendation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8F7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 $limit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760720" y="1307592"/>
            <a:ext cx="365760" cy="36576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760720" y="13075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6263640" y="128016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395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เดินกราฟ 2 ทอด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6263640" y="155448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B7F9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ลูกค้า → ลูกค้าที่คล้ายกัน → น้ำแร่ที่เขาชอบ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760720" y="2148840"/>
            <a:ext cx="365760" cy="36576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760720" y="2148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6263640" y="212140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395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ตัดสิ่งที่ชอบอยู่แล้ว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6263640" y="239572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B7F9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WHERE NOT EXISTS กันไม่ให้แนะนำซ้ำ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760720" y="2990088"/>
            <a:ext cx="365760" cy="36576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760720" y="29900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6263640" y="2962656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395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ให้คะแนนและจัดอันดับ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6263640" y="3236976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B7F9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score = จำนวนลูกค้าที่คล้ายกันที่ชอบยี่ห้อนั้น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5760720" y="3831336"/>
            <a:ext cx="365760" cy="36576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760720" y="38313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6263640" y="380390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395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อธิบายเหตุผลได้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6263640" y="4078224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B7F9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collect() คืนชื่อลูกค้าที่เป็นที่มาของคะแนน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E749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สถาปัตยกรรม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95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จากเบราว์เซอร์ถึงฐานข้อมูลกราฟ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B7F9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ระบบแนะนำน้ำแร่ · กมลวรรณ ทับจิต 664245002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4B7F9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8 / 12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325880"/>
            <a:ext cx="182880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C5E3EE"/>
            </a:solidFill>
            <a:prstDash val="solid"/>
          </a:ln>
          <a:effectLst>
            <a:outerShdw sx="100000" sy="100000" kx="0" ky="0" algn="bl" rotWithShape="0" blurRad="101600" dist="25400" dir="5400000">
              <a:srgbClr val="0E7490">
                <a:alpha val="14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457200" y="14813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95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ผู้ใช้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847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B7F9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เบราว์เซอร์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331720" y="1847088"/>
            <a:ext cx="210312" cy="0"/>
          </a:xfrm>
          <a:prstGeom prst="line">
            <a:avLst/>
          </a:prstGeom>
          <a:noFill/>
          <a:ln w="22225">
            <a:solidFill>
              <a:srgbClr val="0E7490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2587752" y="1325880"/>
            <a:ext cx="182880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C5E3EE"/>
            </a:solidFill>
            <a:prstDash val="solid"/>
          </a:ln>
          <a:effectLst>
            <a:outerShdw sx="100000" sy="100000" kx="0" ky="0" algn="bl" rotWithShape="0" blurRad="101600" dist="25400" dir="5400000">
              <a:srgbClr val="0E7490">
                <a:alpha val="14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2587752" y="14813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95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หน้าเว็บ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2587752" y="1847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B7F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Streamlit · app.py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462272" y="1847088"/>
            <a:ext cx="210312" cy="0"/>
          </a:xfrm>
          <a:prstGeom prst="line">
            <a:avLst/>
          </a:prstGeom>
          <a:noFill/>
          <a:ln w="22225">
            <a:solidFill>
              <a:srgbClr val="0E7490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4718304" y="1325880"/>
            <a:ext cx="182880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C5E3EE"/>
            </a:solidFill>
            <a:prstDash val="solid"/>
          </a:ln>
          <a:effectLst>
            <a:outerShdw sx="100000" sy="100000" kx="0" ky="0" algn="bl" rotWithShape="0" blurRad="101600" dist="25400" dir="5400000">
              <a:srgbClr val="0E7490">
                <a:alpha val="14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4718304" y="14813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95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ชั้นข้อมูล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4718304" y="1847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B7F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neo4j_service.py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6592824" y="1847088"/>
            <a:ext cx="210312" cy="0"/>
          </a:xfrm>
          <a:prstGeom prst="line">
            <a:avLst/>
          </a:prstGeom>
          <a:noFill/>
          <a:ln w="22225">
            <a:solidFill>
              <a:srgbClr val="0E7490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6848856" y="1325880"/>
            <a:ext cx="1828800" cy="1051560"/>
          </a:xfrm>
          <a:prstGeom prst="roundRect">
            <a:avLst>
              <a:gd name="adj" fmla="val 8696"/>
            </a:avLst>
          </a:prstGeom>
          <a:solidFill>
            <a:srgbClr val="E1F1F7"/>
          </a:solidFill>
          <a:ln w="9525">
            <a:solidFill>
              <a:srgbClr val="C5E3EE"/>
            </a:solidFill>
            <a:prstDash val="solid"/>
          </a:ln>
          <a:effectLst>
            <a:outerShdw sx="100000" sy="100000" kx="0" ky="0" algn="bl" rotWithShape="0" blurRad="101600" dist="25400" dir="5400000">
              <a:srgbClr val="0E7490">
                <a:alpha val="14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6848856" y="14813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95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ฐานข้อมูลกราฟ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6848856" y="1847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B7F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Neo4j Aura</a:t>
            </a: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4709160" y="248716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4B7F9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Cypher แบบ parameterized ผ่าน Neo4j Python Driver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457200" y="3017520"/>
            <a:ext cx="256032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C5E3EE"/>
            </a:solidFill>
            <a:prstDash val="solid"/>
          </a:ln>
          <a:effectLst>
            <a:outerShdw sx="100000" sy="100000" kx="0" ky="0" algn="bl" rotWithShape="0" blurRad="101600" dist="25400" dir="5400000">
              <a:srgbClr val="0E7490">
                <a:alpha val="14000"/>
              </a:srgbClr>
            </a:outerShdw>
          </a:effectLst>
        </p:spPr>
      </p:sp>
      <p:sp>
        <p:nvSpPr>
          <p:cNvPr id="24" name="Text 21"/>
          <p:cNvSpPr txBox="1"/>
          <p:nvPr/>
        </p:nvSpPr>
        <p:spPr>
          <a:xfrm>
            <a:off x="640080" y="31546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E749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Deploy</a:t>
            </a:r>
            <a:endParaRPr lang="en-US" sz="1350" dirty="0"/>
          </a:p>
        </p:txBody>
      </p:sp>
      <p:sp>
        <p:nvSpPr>
          <p:cNvPr id="25" name="Text 22"/>
          <p:cNvSpPr txBox="1"/>
          <p:nvPr/>
        </p:nvSpPr>
        <p:spPr>
          <a:xfrm>
            <a:off x="640080" y="3493008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F2A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โค้ดอยู่บน GitHub และขึ้นเว็บผ่าน Streamlit Community Cloud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3291840" y="3017520"/>
            <a:ext cx="256032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C5E3EE"/>
            </a:solidFill>
            <a:prstDash val="solid"/>
          </a:ln>
          <a:effectLst>
            <a:outerShdw sx="100000" sy="100000" kx="0" ky="0" algn="bl" rotWithShape="0" blurRad="101600" dist="25400" dir="5400000">
              <a:srgbClr val="0E7490">
                <a:alpha val="14000"/>
              </a:srgbClr>
            </a:outerShdw>
          </a:effectLst>
        </p:spPr>
      </p:sp>
      <p:sp>
        <p:nvSpPr>
          <p:cNvPr id="27" name="Text 24"/>
          <p:cNvSpPr txBox="1"/>
          <p:nvPr/>
        </p:nvSpPr>
        <p:spPr>
          <a:xfrm>
            <a:off x="3474720" y="31546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E749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Secrets</a:t>
            </a:r>
            <a:endParaRPr lang="en-US" sz="1350" dirty="0"/>
          </a:p>
        </p:txBody>
      </p:sp>
      <p:sp>
        <p:nvSpPr>
          <p:cNvPr id="28" name="Text 25"/>
          <p:cNvSpPr txBox="1"/>
          <p:nvPr/>
        </p:nvSpPr>
        <p:spPr>
          <a:xfrm>
            <a:off x="3474720" y="3493008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F2A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ที่อยู่และรหัสผ่านฐานข้อมูลเก็บแยก ไม่อยู่ในโค้ด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6126480" y="3017520"/>
            <a:ext cx="256032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C5E3EE"/>
            </a:solidFill>
            <a:prstDash val="solid"/>
          </a:ln>
          <a:effectLst>
            <a:outerShdw sx="100000" sy="100000" kx="0" ky="0" algn="bl" rotWithShape="0" blurRad="101600" dist="25400" dir="5400000">
              <a:srgbClr val="0E7490">
                <a:alpha val="14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6309360" y="31546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E749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แยกชั้น</a:t>
            </a:r>
            <a:endParaRPr lang="en-US" sz="1350" dirty="0"/>
          </a:p>
        </p:txBody>
      </p:sp>
      <p:sp>
        <p:nvSpPr>
          <p:cNvPr id="31" name="Text 28"/>
          <p:cNvSpPr txBox="1"/>
          <p:nvPr/>
        </p:nvSpPr>
        <p:spPr>
          <a:xfrm>
            <a:off x="6309360" y="3493008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F2A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หน้าเว็บไม่เขียน Cypher เอง เรียกผ่านชั้นข้อมูลเท่านั้น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E749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หน้าจอของระบบ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95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ภาพรวมและคำแนะนำ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B7F9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ระบบแนะนำน้ำแร่ · กมลวรรณ ทับจิต 664245002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4B7F9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9 / 12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20624" y="1243584"/>
            <a:ext cx="4096512" cy="2587752"/>
          </a:xfrm>
          <a:prstGeom prst="rect">
            <a:avLst/>
          </a:prstGeom>
          <a:solidFill>
            <a:srgbClr val="FFFFFF"/>
          </a:solidFill>
          <a:ln w="9525">
            <a:solidFill>
              <a:srgbClr val="C5E3EE"/>
            </a:solidFill>
            <a:prstDash val="solid"/>
          </a:ln>
          <a:effectLst>
            <a:outerShdw sx="100000" sy="100000" kx="0" ky="0" algn="bl" rotWithShape="0" blurRad="101600" dist="25400" dir="5400000">
              <a:srgbClr val="0E7490">
                <a:alpha val="14000"/>
              </a:srgbClr>
            </a:outerShdw>
          </a:effectLst>
        </p:spPr>
      </p:sp>
      <p:pic>
        <p:nvPicPr>
          <p:cNvPr id="8" name="Image 0" descr="s_dash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4023360" cy="25146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4626864" y="1243584"/>
            <a:ext cx="4096512" cy="2587752"/>
          </a:xfrm>
          <a:prstGeom prst="rect">
            <a:avLst/>
          </a:prstGeom>
          <a:solidFill>
            <a:srgbClr val="FFFFFF"/>
          </a:solidFill>
          <a:ln w="9525">
            <a:solidFill>
              <a:srgbClr val="C5E3EE"/>
            </a:solidFill>
            <a:prstDash val="solid"/>
          </a:ln>
          <a:effectLst>
            <a:outerShdw sx="100000" sy="100000" kx="0" ky="0" algn="bl" rotWithShape="0" blurRad="101600" dist="25400" dir="5400000">
              <a:srgbClr val="0E7490">
                <a:alpha val="14000"/>
              </a:srgbClr>
            </a:outerShdw>
          </a:effectLst>
        </p:spPr>
      </p:sp>
      <p:pic>
        <p:nvPicPr>
          <p:cNvPr id="10" name="Image 1" descr="s_rec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280160"/>
            <a:ext cx="4023360" cy="251460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457200" y="3959352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B395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ภาพรวม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B7F9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จำนวนลูกค้า น้ำแร่ และความสัมพันธ์ พร้อมความนิยมของแต่ละยี่ห้อ</a:t>
            </a:r>
            <a:endParaRPr lang="en-US" sz="1150" dirty="0"/>
          </a:p>
        </p:txBody>
      </p:sp>
      <p:sp>
        <p:nvSpPr>
          <p:cNvPr id="12" name="Text 7"/>
          <p:cNvSpPr txBox="1"/>
          <p:nvPr/>
        </p:nvSpPr>
        <p:spPr>
          <a:xfrm>
            <a:off x="4663440" y="3959352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B395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แนะนำน้ำแร่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B7F9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เลือกลูกค้า แล้วเห็นน้ำแร่ที่แนะนำ คะแนน และเหตุผลว่าใครชอบ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E749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จัดการข้อมูล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95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เพิ่ม ลบ แก้ไขข้อมูลได้จากหน้าเว็บ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B7F9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ระบบแนะนำน้ำแร่ · กมลวรรณ ทับจิต 664245002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4B7F9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10 / 12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20624" y="1243584"/>
            <a:ext cx="4279392" cy="2702052"/>
          </a:xfrm>
          <a:prstGeom prst="rect">
            <a:avLst/>
          </a:prstGeom>
          <a:solidFill>
            <a:srgbClr val="FFFFFF"/>
          </a:solidFill>
          <a:ln w="9525">
            <a:solidFill>
              <a:srgbClr val="C5E3EE"/>
            </a:solidFill>
            <a:prstDash val="solid"/>
          </a:ln>
          <a:effectLst>
            <a:outerShdw sx="100000" sy="100000" kx="0" ky="0" algn="bl" rotWithShape="0" blurRad="101600" dist="25400" dir="5400000">
              <a:srgbClr val="0E7490">
                <a:alpha val="14000"/>
              </a:srgbClr>
            </a:outerShdw>
          </a:effectLst>
        </p:spPr>
      </p:sp>
      <p:pic>
        <p:nvPicPr>
          <p:cNvPr id="8" name="Image 0" descr="s_water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4206240" cy="26289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57200" y="404164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4B7F9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หน้าน้ำแร่: แกลเลอรีรูป ตารางข้อมูล และแท็บ เพิ่ม / แก้ไข / ลบ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4937760" y="1243584"/>
            <a:ext cx="374904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9525">
            <a:solidFill>
              <a:srgbClr val="C5E3EE"/>
            </a:solidFill>
            <a:prstDash val="solid"/>
          </a:ln>
          <a:effectLst>
            <a:outerShdw sx="100000" sy="100000" kx="0" ky="0" algn="bl" rotWithShape="0" blurRad="101600" dist="25400" dir="5400000">
              <a:srgbClr val="0E7490">
                <a:alpha val="14000"/>
              </a:srgbClr>
            </a:outerShdw>
          </a:effectLst>
        </p:spPr>
      </p:sp>
      <p:sp>
        <p:nvSpPr>
          <p:cNvPr id="11" name="Text 7"/>
          <p:cNvSpPr txBox="1"/>
          <p:nvPr/>
        </p:nvSpPr>
        <p:spPr>
          <a:xfrm>
            <a:off x="5074920" y="13258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395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เพิ่ม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6400800" y="132588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</a:t>
            </a:r>
            <a:endParaRPr lang="en-US" sz="1050" dirty="0"/>
          </a:p>
        </p:txBody>
      </p:sp>
      <p:sp>
        <p:nvSpPr>
          <p:cNvPr id="13" name="Text 9"/>
          <p:cNvSpPr txBox="1"/>
          <p:nvPr/>
        </p:nvSpPr>
        <p:spPr>
          <a:xfrm>
            <a:off x="5074920" y="162763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B7F9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ตรวจรหัสซ้ำก่อนสร้าง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937760" y="2066544"/>
            <a:ext cx="374904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9525">
            <a:solidFill>
              <a:srgbClr val="C5E3EE"/>
            </a:solidFill>
            <a:prstDash val="solid"/>
          </a:ln>
          <a:effectLst>
            <a:outerShdw sx="100000" sy="100000" kx="0" ky="0" algn="bl" rotWithShape="0" blurRad="101600" dist="25400" dir="5400000">
              <a:srgbClr val="0E7490">
                <a:alpha val="14000"/>
              </a:srgbClr>
            </a:outerShdw>
          </a:effectLst>
        </p:spPr>
      </p:sp>
      <p:sp>
        <p:nvSpPr>
          <p:cNvPr id="15" name="Text 11"/>
          <p:cNvSpPr txBox="1"/>
          <p:nvPr/>
        </p:nvSpPr>
        <p:spPr>
          <a:xfrm>
            <a:off x="5074920" y="21488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395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แก้ไข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6400800" y="214884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</a:t>
            </a:r>
            <a:endParaRPr lang="en-US" sz="1050" dirty="0"/>
          </a:p>
        </p:txBody>
      </p:sp>
      <p:sp>
        <p:nvSpPr>
          <p:cNvPr id="17" name="Text 13"/>
          <p:cNvSpPr txBox="1"/>
          <p:nvPr/>
        </p:nvSpPr>
        <p:spPr>
          <a:xfrm>
            <a:off x="5074920" y="245059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B7F9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แก้ชื่อ และเปลี่ยนรูปน้ำแร่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4937760" y="2889504"/>
            <a:ext cx="374904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9525">
            <a:solidFill>
              <a:srgbClr val="C5E3EE"/>
            </a:solidFill>
            <a:prstDash val="solid"/>
          </a:ln>
          <a:effectLst>
            <a:outerShdw sx="100000" sy="100000" kx="0" ky="0" algn="bl" rotWithShape="0" blurRad="101600" dist="25400" dir="5400000">
              <a:srgbClr val="0E7490">
                <a:alpha val="14000"/>
              </a:srgbClr>
            </a:outerShdw>
          </a:effectLst>
        </p:spPr>
      </p:sp>
      <p:sp>
        <p:nvSpPr>
          <p:cNvPr id="19" name="Text 15"/>
          <p:cNvSpPr txBox="1"/>
          <p:nvPr/>
        </p:nvSpPr>
        <p:spPr>
          <a:xfrm>
            <a:off x="5074920" y="29718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395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ลบ</a:t>
            </a:r>
            <a:endParaRPr lang="en-US" sz="1300" dirty="0"/>
          </a:p>
        </p:txBody>
      </p:sp>
      <p:sp>
        <p:nvSpPr>
          <p:cNvPr id="20" name="Text 16"/>
          <p:cNvSpPr txBox="1"/>
          <p:nvPr/>
        </p:nvSpPr>
        <p:spPr>
          <a:xfrm>
            <a:off x="6400800" y="297180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DETACH DELETE</a:t>
            </a:r>
            <a:endParaRPr lang="en-US" sz="1050" dirty="0"/>
          </a:p>
        </p:txBody>
      </p:sp>
      <p:sp>
        <p:nvSpPr>
          <p:cNvPr id="21" name="Text 17"/>
          <p:cNvSpPr txBox="1"/>
          <p:nvPr/>
        </p:nvSpPr>
        <p:spPr>
          <a:xfrm>
            <a:off x="5074920" y="327355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B7F9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ลบ Node พร้อมความสัมพันธ์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4937760" y="3712464"/>
            <a:ext cx="374904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9525">
            <a:solidFill>
              <a:srgbClr val="C5E3EE"/>
            </a:solidFill>
            <a:prstDash val="solid"/>
          </a:ln>
          <a:effectLst>
            <a:outerShdw sx="100000" sy="100000" kx="0" ky="0" algn="bl" rotWithShape="0" blurRad="101600" dist="25400" dir="5400000">
              <a:srgbClr val="0E7490">
                <a:alpha val="14000"/>
              </a:srgbClr>
            </a:outerShdw>
          </a:effectLst>
        </p:spPr>
      </p:sp>
      <p:sp>
        <p:nvSpPr>
          <p:cNvPr id="23" name="Text 19"/>
          <p:cNvSpPr txBox="1"/>
          <p:nvPr/>
        </p:nvSpPr>
        <p:spPr>
          <a:xfrm>
            <a:off x="5074920" y="37947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395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ความสัมพันธ์</a:t>
            </a:r>
            <a:endParaRPr lang="en-US" sz="1300" dirty="0"/>
          </a:p>
        </p:txBody>
      </p:sp>
      <p:sp>
        <p:nvSpPr>
          <p:cNvPr id="24" name="Text 20"/>
          <p:cNvSpPr txBox="1"/>
          <p:nvPr/>
        </p:nvSpPr>
        <p:spPr>
          <a:xfrm>
            <a:off x="6400800" y="379476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MERGE / DELETE</a:t>
            </a:r>
            <a:endParaRPr lang="en-US" sz="1050" dirty="0"/>
          </a:p>
        </p:txBody>
      </p:sp>
      <p:sp>
        <p:nvSpPr>
          <p:cNvPr id="25" name="Text 21"/>
          <p:cNvSpPr txBox="1"/>
          <p:nvPr/>
        </p:nvSpPr>
        <p:spPr>
          <a:xfrm>
            <a:off x="5074920" y="409651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B7F9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เพิ่มหรือเอาออก LIKES, SIMILAR_TO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E749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กราฟความสัมพันธ์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95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เห็นเส้นทางที่ทำให้เกิดคำแนะนำ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B7F9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ระบบแนะนำน้ำแร่ · กมลวรรณ ทับจิต 664245002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4B7F9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11 / 12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20624" y="1243584"/>
            <a:ext cx="5193792" cy="3273552"/>
          </a:xfrm>
          <a:prstGeom prst="rect">
            <a:avLst/>
          </a:prstGeom>
          <a:solidFill>
            <a:srgbClr val="FFFFFF"/>
          </a:solidFill>
          <a:ln w="9525">
            <a:solidFill>
              <a:srgbClr val="C5E3EE"/>
            </a:solidFill>
            <a:prstDash val="solid"/>
          </a:ln>
          <a:effectLst>
            <a:outerShdw sx="100000" sy="100000" kx="0" ky="0" algn="bl" rotWithShape="0" blurRad="101600" dist="25400" dir="5400000">
              <a:srgbClr val="0E7490">
                <a:alpha val="14000"/>
              </a:srgbClr>
            </a:outerShdw>
          </a:effectLst>
        </p:spPr>
      </p:sp>
      <p:pic>
        <p:nvPicPr>
          <p:cNvPr id="8" name="Image 0" descr="s_graph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5120640" cy="32004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5897880" y="1353312"/>
            <a:ext cx="365760" cy="36576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5897880" y="13533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6400800" y="1325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395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กราฟรอบตัวลูกค้า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6400800" y="161848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B7F9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แสดงลูกค้าที่คล้ายกันและน้ำแร่ที่อยู่ห่างไม่เกิน 2 ทอด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5897880" y="2377440"/>
            <a:ext cx="365760" cy="36576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5897880" y="2377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6400800" y="23500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395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สีแยกชนิด Node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6400800" y="2642616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B7F9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ลูกค้าเป็นสีฟ้า น้ำแร่เป็นสีเขียวน้ำทะเล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5897880" y="3401568"/>
            <a:ext cx="365760" cy="36576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5897880" y="3401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5"/>
          <p:cNvSpPr txBox="1"/>
          <p:nvPr/>
        </p:nvSpPr>
        <p:spPr>
          <a:xfrm>
            <a:off x="6400800" y="337413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395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ข้อมูลจริงจากฐานข้อมูล</a:t>
            </a:r>
            <a:endParaRPr lang="en-US" sz="1300" dirty="0"/>
          </a:p>
        </p:txBody>
      </p:sp>
      <p:sp>
        <p:nvSpPr>
          <p:cNvPr id="20" name="Text 16"/>
          <p:cNvSpPr txBox="1"/>
          <p:nvPr/>
        </p:nvSpPr>
        <p:spPr>
          <a:xfrm>
            <a:off x="6400800" y="3666744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B7F9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วาดจากความสัมพันธ์ใน Neo4j ณ ขณะนั้น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สรุป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362456"/>
            <a:ext cx="420624" cy="420624"/>
          </a:xfrm>
          <a:prstGeom prst="ellipse">
            <a:avLst/>
          </a:prstGeom>
          <a:solidFill>
            <a:srgbClr val="22B8CF"/>
          </a:solidFill>
          <a:ln w="12700">
            <a:solidFill>
              <a:srgbClr val="22B8C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362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132588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Graph เหมาะกับโจทย์แนะนำ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62763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8F7F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คำถาม "คนที่คล้ายกันชอบอะไร" เขียนเป็นเส้นทางใน Cypher ได้ตรงตัว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" y="2185416"/>
            <a:ext cx="420624" cy="420624"/>
          </a:xfrm>
          <a:prstGeom prst="ellipse">
            <a:avLst/>
          </a:prstGeom>
          <a:solidFill>
            <a:srgbClr val="22B8CF"/>
          </a:solidFill>
          <a:ln w="12700">
            <a:solidFill>
              <a:srgbClr val="22B8C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1854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14884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คำแนะนำอธิบายได้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45059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8F7F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ทุกคำแนะนำบอกได้ว่ามาจากลูกค้าคนใด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" y="3008376"/>
            <a:ext cx="420624" cy="420624"/>
          </a:xfrm>
          <a:prstGeom prst="ellipse">
            <a:avLst/>
          </a:prstGeom>
          <a:solidFill>
            <a:srgbClr val="22B8CF"/>
          </a:solidFill>
          <a:ln w="12700">
            <a:solidFill>
              <a:srgbClr val="22B8C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30083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297180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ใช้งานได้จริงบนเว็บ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327355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8F7F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จัดการข้อมูลได้ครบ และเปิดดูการบ้านทั้ง 3 ชิ้นได้ในเว็บเดียว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3886200"/>
            <a:ext cx="7863840" cy="731520"/>
          </a:xfrm>
          <a:prstGeom prst="roundRect">
            <a:avLst>
              <a:gd name="adj" fmla="val 125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BFEAF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388620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ขอบคุณค่ะ   </a:t>
            </a:r>
            <a:pPr indent="0" marL="0">
              <a:buNone/>
            </a:pPr>
            <a:r>
              <a:rPr lang="en-US" sz="1100" dirty="0">
                <a:solidFill>
                  <a:srgbClr val="BFEAF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โค้ดและการบ้านทั้งหมด: </a:t>
            </a:r>
            <a:pPr indent="0" marL="0">
              <a:buNone/>
            </a:pPr>
            <a:r>
              <a:rPr lang="en-US" sz="1100" u="sng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github.com/tabjit2005/MineralWater1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ระบบแนะนำน้ำแร่ด้วย Graph Database</dc:title>
  <dc:subject>PptxGenJS Presentation</dc:subject>
  <dc:creator>กมลวรรณ ทับจิต</dc:creator>
  <cp:lastModifiedBy>กมลวรรณ ทับจิต</cp:lastModifiedBy>
  <cp:revision>1</cp:revision>
  <dcterms:created xsi:type="dcterms:W3CDTF">2026-10-01T17:25:30Z</dcterms:created>
  <dcterms:modified xsi:type="dcterms:W3CDTF">2026-10-01T17:25:30Z</dcterms:modified>
</cp:coreProperties>
</file>